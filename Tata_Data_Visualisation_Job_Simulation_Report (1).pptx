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iilm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SIMULATION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Visualisation: Empowering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with Effective Insights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Group (Tata Insights &amp; Quants) Virtual Job Simulation — hosted on Forage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4480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864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PROGRAMME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48646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Course &amp; Semester]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2486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524865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Name]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632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822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83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Forage?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is a free online platform where students complete self-paced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 simulations"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designed by real companies.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includes guided video briefings, realistic task-based modules, and example answers from the company's own team — replicating the actual work an employee would do.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completion, participants receive a verifiable certificate to add to their resume and LinkedIn profile.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83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783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Insights &amp; Quants (Tata iQ)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iQ is Tata Group's data, AI and analytics arm, solving complex business problems for Tata companies using advanced analytics and visualisation.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simulation reflects the kind of work Tata iQ's data visualisation team does day-to-day: turning huge, messy datasets into clear stories that guide real business decisions using tools like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and Power BI.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Simulation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822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places you in the role of a data intern at Tata iQ, working with a hypothetical online retail company's sales data. The goal is to move from raw, unstructured data to a clear, decision-ready story for senior leadership.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the Right Questions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vague business ask from the CEO and CMO into precise, answerable analytical questions.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Structure Data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real-world, ~540,000-row transactional dataset so it is fit for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Clear Visuals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8862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dashboards in Power BI / Tableau that highlight the metrics leadership cares about most.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23317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EA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41832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 Insights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72600" y="3886200"/>
            <a:ext cx="2331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findings into a business-ready presentation that drives a decision, not just displays data.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Simulation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self-paced tasks, each building on the last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97380" y="2788920"/>
            <a:ext cx="8229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383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2748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748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83280" y="32004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383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0180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0180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383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7033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the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761220" y="2286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7612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0" y="32004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006840" y="33832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06840" y="370332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to</a:t>
            </a:r>
            <a:endParaRPr lang="en-US" sz="1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throughout: Microsoft Excel  •  Power BI / Tableau  •  Microsoft PowerPoint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80160" y="347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943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Business Questions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was scheduled with the CEO and CMO of a hypothetical online retail store. Management wanted to know which parts of the business were performing well and how key metrics varied across customer demographics. I was given a dataset of nearly 540,000 transactions, plus articles outlining the metrics a CEO and a CMO typically care about.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background material to understand what a CEO (growth, revenue trends) and a CMO (customer segments, geography) each prioritise.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raw dataset to understand its structure, fields, and quality issues.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 shortlist of sharp, answerable business questions, e.g. revenue trends and seasonality, and demographic/geographic variation in sales.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translate an open-ended business ask into precise, data-answerable questions.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good analysis starts before you open a chart — with understanding the audience.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CEO's and a CMO's priorities when framing the same dataset.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80160" y="347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943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Data Visuals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questions from Task 1, I built visuals to directly answer four questions the CEO and CMO had posed — for example, a monthly revenue time series for 2011 to reveal seasonal trends, and the top 10 revenue-generating countries alongside quantity sold.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dataset in Excel — handled blanks, duplicates and invalid entries before analysis.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each visual in Power BI, placing one visual per tab and labelling tabs by question number.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chart types deliberately: a time series for trend/seasonality, and ranked bar charts for country-level comparison.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is not optional — it directly determines whether a visual is trustworthy.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right chart type to the right question (trend vs. comparison vs. ranking).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multi-tab dashboard so a busy executive can navigate it quickly.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80160" y="347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943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Deepening the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initial dashboards in place, the next step was to dig deeper: which markets and products were genuinely driving the business forward, and which were quietly dragging on performance? Leadership wanted a clear view of where to double down and where to pull back.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Interrogated the dashboard for concentration patterns — e.g. how much revenue sat with the top few countries versus the long tail.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underperforming or inconsistent markets (very low or sporadic sales) as candidates for review.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each finding back to a concrete business implication rather than leaving it as a raw number.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move from 'what happened' to 'so what should we do about it' — the core of business analytics.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concentration risk when a small number of markets/products drive most of the revenue.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comfortable making a recommendation even with imperfect, real-world data.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80160" y="347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943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to Leadership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1064240" cy="27432"/>
          </a:xfrm>
          <a:prstGeom prst="rect">
            <a:avLst/>
          </a:prstGeom>
          <a:solidFill>
            <a:srgbClr val="EAF3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task was to package everything into a presentation for the CEO and CMO — an audience with limited time and little patience for raw data. The brief was to tell a clear, confident story that leads to a decision, not just to show charts.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only the visuals and numbers that supported the core narrative — cutting anything that didn't serve the story.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PowerPoint deck with a clear headline takeaway on each slide, supported by the underlying chart.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specific, actionable recommendations rather than open-ended observations.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8463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is a distinct skill from analysis — clarity and audience-focus matter as much as accuracy.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respond to a headline insight backed by a chart, not a chart alone.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recommendation is specific enough that someone could act on it tomorrow.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Gained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24128"/>
            <a:ext cx="822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/ Tableau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A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storytelling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6621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337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Business-question framing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3375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480560" y="36621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337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3375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366217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3375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(Power BI)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7137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3891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Chart-type selection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43891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47137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3891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Insight-to-recommendation thinking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43891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47137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549640" y="43891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 data storytelling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82296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7498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job simulation gave me hands-on exposure to how a real analytics team at Tata iQ approaches a business problem end-to-end — from an ambiguous leadership ask, through data cleaning and visualisation, to a confident, decision-ready recommendation.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technical tools, the biggest takeaway was learning to think like a business partner: every chart I built had to answer a question someone with limited time actually cared about.
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experience has strengthened both my technical toolkit and my confidence in presenting data-driven insights, and I look forward to applying these skills in future academic and professional projects.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412480" y="210312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95360" y="2606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Data Visualisation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Simulation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Completed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Data Visualisation Job Simulation  |  Forage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over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IL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870" y="182880"/>
            <a:ext cx="1061210" cy="1061210"/>
          </a:xfrm>
          <a:prstGeom prst="rect">
            <a:avLst/>
          </a:prstGeom>
        </p:spPr>
      </p:pic>
      <p:sp>
        <p:nvSpPr>
          <p:cNvPr id="18" name="University Name"/>
          <p:cNvSpPr/>
          <p:nvPr/>
        </p:nvSpPr>
        <p:spPr>
          <a:xfrm>
            <a:off x="822960" y="138684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</a:rPr>
              <a:t>IILM University</a:t>
            </a:r>
            <a:endParaRPr lang="en-US" sz="3200" dirty="0"/>
          </a:p>
        </p:txBody>
      </p:sp>
      <p:sp>
        <p:nvSpPr>
          <p:cNvPr id="19" name="Topic Label"/>
          <p:cNvSpPr/>
          <p:nvPr/>
        </p:nvSpPr>
        <p:spPr>
          <a:xfrm>
            <a:off x="822960" y="210312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FD6E8"/>
                </a:solidFill>
                <a:latin typeface="Calibri" pitchFamily="34" charset="0"/>
              </a:rPr>
              <a:t>INTERNSHIP TOPIC / TITLE</a:t>
            </a:r>
            <a:endParaRPr lang="en-US" sz="1400" dirty="0"/>
          </a:p>
        </p:txBody>
      </p:sp>
      <p:sp>
        <p:nvSpPr>
          <p:cNvPr id="20" name="Topic Value"/>
          <p:cNvSpPr/>
          <p:nvPr/>
        </p:nvSpPr>
        <p:spPr>
          <a:xfrm>
            <a:off x="1097280" y="2469515"/>
            <a:ext cx="9994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</a:rPr>
              <a:t>Data Visualisation: Empowering Business with Effective Insights</a:t>
            </a:r>
            <a:endParaRPr lang="en-US" sz="2600" dirty="0"/>
          </a:p>
        </p:txBody>
      </p:sp>
      <p:sp>
        <p:nvSpPr>
          <p:cNvPr id="21" name="Divider"/>
          <p:cNvSpPr/>
          <p:nvPr/>
        </p:nvSpPr>
        <p:spPr>
          <a:xfrm>
            <a:off x="4631436" y="35052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Label Student"/>
          <p:cNvSpPr/>
          <p:nvPr/>
        </p:nvSpPr>
        <p:spPr>
          <a:xfrm>
            <a:off x="1554480" y="3733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</a:rPr>
              <a:t>STUDENT NAME</a:t>
            </a:r>
            <a:endParaRPr lang="en-US" sz="1000" dirty="0"/>
          </a:p>
        </p:txBody>
      </p:sp>
      <p:sp>
        <p:nvSpPr>
          <p:cNvPr id="23" name="Value Student"/>
          <p:cNvSpPr/>
          <p:nvPr/>
        </p:nvSpPr>
        <p:spPr>
          <a:xfrm>
            <a:off x="4572000" y="37338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Dev Tomar</a:t>
            </a:r>
            <a:endParaRPr lang="en-US" sz="1200" dirty="0"/>
          </a:p>
        </p:txBody>
      </p:sp>
      <p:sp>
        <p:nvSpPr>
          <p:cNvPr id="24" name="Label Enroll"/>
          <p:cNvSpPr/>
          <p:nvPr/>
        </p:nvSpPr>
        <p:spPr>
          <a:xfrm>
            <a:off x="1554480" y="41178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</a:rPr>
              <a:t>ENROLLMENT NUMBER</a:t>
            </a:r>
            <a:endParaRPr lang="en-US" sz="1000" dirty="0"/>
          </a:p>
        </p:txBody>
      </p:sp>
      <p:sp>
        <p:nvSpPr>
          <p:cNvPr id="25" name="Value Enroll"/>
          <p:cNvSpPr/>
          <p:nvPr/>
        </p:nvSpPr>
        <p:spPr>
          <a:xfrm>
            <a:off x="4572000" y="41178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25SCS1003002598</a:t>
            </a:r>
            <a:endParaRPr lang="en-US" sz="1200" dirty="0"/>
          </a:p>
        </p:txBody>
      </p:sp>
      <p:sp>
        <p:nvSpPr>
          <p:cNvPr id="26" name="Label Program"/>
          <p:cNvSpPr/>
          <p:nvPr/>
        </p:nvSpPr>
        <p:spPr>
          <a:xfrm>
            <a:off x="1554480" y="4501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</a:rPr>
              <a:t>PROGRAM &amp; SEMESTER</a:t>
            </a:r>
            <a:endParaRPr lang="en-US" sz="1000" dirty="0"/>
          </a:p>
        </p:txBody>
      </p:sp>
      <p:sp>
        <p:nvSpPr>
          <p:cNvPr id="27" name="Value Program"/>
          <p:cNvSpPr/>
          <p:nvPr/>
        </p:nvSpPr>
        <p:spPr>
          <a:xfrm>
            <a:off x="4572000" y="45018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B Tech CSE (Sem 3rd)</a:t>
            </a:r>
            <a:endParaRPr lang="en-US" sz="1200" dirty="0"/>
          </a:p>
        </p:txBody>
      </p:sp>
      <p:sp>
        <p:nvSpPr>
          <p:cNvPr id="28" name="Label Org"/>
          <p:cNvSpPr/>
          <p:nvPr/>
        </p:nvSpPr>
        <p:spPr>
          <a:xfrm>
            <a:off x="1554480" y="4885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E8"/>
                </a:solidFill>
                <a:latin typeface="Calibri" pitchFamily="34" charset="0"/>
              </a:rPr>
              <a:t>ORGANIZATION NAME</a:t>
            </a:r>
            <a:endParaRPr lang="en-US" sz="1000" dirty="0"/>
          </a:p>
        </p:txBody>
      </p:sp>
      <p:sp>
        <p:nvSpPr>
          <p:cNvPr id="29" name="Value Org"/>
          <p:cNvSpPr/>
          <p:nvPr/>
        </p:nvSpPr>
        <p:spPr>
          <a:xfrm>
            <a:off x="4572000" y="48859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Tata Group (Tata Insights &amp; Quants)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2026-09-07T15:08:02Z</dcterms:created>
  <dcterms:modified xsi:type="dcterms:W3CDTF">2026-09-07T15:08:02Z</dcterms:modified>
</cp:coreProperties>
</file>